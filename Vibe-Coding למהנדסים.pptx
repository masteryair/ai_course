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 flipH="1">
            <a:off x="988694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524001" y="1122363"/>
            <a:ext cx="8791575" cy="2387600"/>
          </a:xfrm>
        </p:spPr>
        <p:txBody>
          <a:bodyPr anchor="b">
            <a:normAutofit/>
          </a:bodyPr>
          <a:lstStyle>
            <a:lvl1pPr algn="r" rtl="1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1524001" y="3602038"/>
            <a:ext cx="8791575" cy="1655762"/>
          </a:xfrm>
        </p:spPr>
        <p:txBody>
          <a:bodyPr>
            <a:normAutofit/>
          </a:bodyPr>
          <a:lstStyle>
            <a:lvl1pPr marL="0" indent="0" algn="r" rtl="1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2371289" y="5410201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5190690" y="5410201"/>
            <a:ext cx="5124886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524000" y="5410199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44589" y="2249487"/>
            <a:ext cx="9905999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1419226"/>
            <a:ext cx="9906000" cy="2852737"/>
          </a:xfrm>
        </p:spPr>
        <p:txBody>
          <a:bodyPr anchor="b">
            <a:normAutofit/>
          </a:bodyPr>
          <a:lstStyle>
            <a:lvl1pPr algn="r" rtl="1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144589" y="4424362"/>
            <a:ext cx="9906000" cy="1374776"/>
          </a:xfrm>
        </p:spPr>
        <p:txBody>
          <a:bodyPr>
            <a:normAutofit/>
          </a:bodyPr>
          <a:lstStyle>
            <a:lvl1pPr marL="0" indent="0" algn="r" rtl="1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6172201" y="2249486"/>
            <a:ext cx="4878389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1144589" y="2249486"/>
            <a:ext cx="4875211" cy="3541714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9126"/>
            <a:ext cx="9906000" cy="1477961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6172198" y="2249486"/>
            <a:ext cx="4649783" cy="823912"/>
          </a:xfrm>
        </p:spPr>
        <p:txBody>
          <a:bodyPr anchor="b"/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6172199" y="3073397"/>
            <a:ext cx="4878391" cy="271780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1144590" y="2249485"/>
            <a:ext cx="4646602" cy="823912"/>
          </a:xfrm>
        </p:spPr>
        <p:txBody>
          <a:bodyPr anchor="b"/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 flipH="1">
            <a:off x="1144590" y="3073397"/>
            <a:ext cx="4875210" cy="271780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189258" y="609601"/>
            <a:ext cx="3856037" cy="1639884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44591" y="592666"/>
            <a:ext cx="5891209" cy="5198534"/>
          </a:xfrm>
        </p:spPr>
        <p:txBody>
          <a:bodyPr anchor="ctr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189258" y="2249486"/>
            <a:ext cx="3856037" cy="3541714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116079" y="609600"/>
            <a:ext cx="5934508" cy="1639886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144589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 algn="r" rtl="1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5116079" y="2249486"/>
            <a:ext cx="5934511" cy="3541714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8235" y="4304664"/>
            <a:ext cx="9912355" cy="819355"/>
          </a:xfrm>
        </p:spPr>
        <p:txBody>
          <a:bodyPr anchor="b">
            <a:normAutofit/>
          </a:bodyPr>
          <a:lstStyle>
            <a:lvl1pPr algn="r" rtl="1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138235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39777" y="5124020"/>
            <a:ext cx="9910859" cy="682472"/>
          </a:xfrm>
        </p:spPr>
        <p:txBody>
          <a:bodyPr>
            <a:normAutofit/>
          </a:bodyPr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09600"/>
            <a:ext cx="9905955" cy="3429000"/>
          </a:xfrm>
        </p:spPr>
        <p:txBody>
          <a:bodyPr anchor="ctr">
            <a:normAutofit/>
          </a:bodyPr>
          <a:lstStyle>
            <a:lvl1pPr algn="r" rtl="1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6131" y="4419599"/>
            <a:ext cx="9904459" cy="1371599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443036" y="609599"/>
            <a:ext cx="9302752" cy="2748429"/>
          </a:xfrm>
        </p:spPr>
        <p:txBody>
          <a:bodyPr anchor="ctr">
            <a:normAutofit/>
          </a:bodyPr>
          <a:lstStyle>
            <a:lvl1pPr algn="r" rtl="1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 flipH="1">
            <a:off x="1719057" y="3365557"/>
            <a:ext cx="8752299" cy="548968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4587" y="4309919"/>
            <a:ext cx="9906002" cy="1489496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flipH="1">
            <a:off x="10678888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 flipH="1">
            <a:off x="104503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l" rtl="1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2134041"/>
            <a:ext cx="9906001" cy="2511835"/>
          </a:xfrm>
        </p:spPr>
        <p:txBody>
          <a:bodyPr anchor="b">
            <a:normAutofit/>
          </a:bodyPr>
          <a:lstStyle>
            <a:lvl1pPr algn="r" rtl="1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1146131" y="4657655"/>
            <a:ext cx="9904505" cy="1140644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 flipH="1">
            <a:off x="1144589" y="609600"/>
            <a:ext cx="9905998" cy="19050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 flipH="1">
            <a:off x="7853691" y="2674463"/>
            <a:ext cx="3196899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 flipH="1">
            <a:off x="7855347" y="3360263"/>
            <a:ext cx="3208735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4492849" y="2677635"/>
            <a:ext cx="3184385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 flipH="1">
            <a:off x="4491957" y="3363435"/>
            <a:ext cx="3195830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 flipH="1">
            <a:off x="1144590" y="2674463"/>
            <a:ext cx="3194968" cy="685800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 flipH="1">
            <a:off x="1144590" y="3360263"/>
            <a:ext cx="3194968" cy="2430936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 flipH="1">
            <a:off x="1144590" y="609600"/>
            <a:ext cx="9905999" cy="190500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 flipH="1">
            <a:off x="7855347" y="4404596"/>
            <a:ext cx="3195240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 flipH="1">
            <a:off x="7855347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 flipH="1">
            <a:off x="7855347" y="4980858"/>
            <a:ext cx="3195240" cy="817843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4502547" y="4404596"/>
            <a:ext cx="3200400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 flipH="1">
            <a:off x="4504007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 flipH="1">
            <a:off x="4504007" y="4980857"/>
            <a:ext cx="3200400" cy="810342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 flipH="1">
            <a:off x="1148692" y="4404595"/>
            <a:ext cx="3190741" cy="576262"/>
          </a:xfrm>
        </p:spPr>
        <p:txBody>
          <a:bodyPr anchor="b">
            <a:noAutofit/>
          </a:bodyPr>
          <a:lstStyle>
            <a:lvl1pPr marL="0" indent="0" algn="r" rtl="1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 flipH="1">
            <a:off x="1144589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r" rtl="1"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 flipH="1">
            <a:off x="1144590" y="4980854"/>
            <a:ext cx="3194968" cy="810345"/>
          </a:xfrm>
        </p:spPr>
        <p:txBody>
          <a:bodyPr anchor="t">
            <a:normAutofit/>
          </a:bodyPr>
          <a:lstStyle>
            <a:lvl1pPr marL="0" indent="0" algn="r" rtl="1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1144589" y="2249487"/>
            <a:ext cx="9905999" cy="3541714"/>
          </a:xfrm>
        </p:spPr>
        <p:txBody>
          <a:bodyPr vert="eaVert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flipH="1">
            <a:off x="1144589" y="609599"/>
            <a:ext cx="2005011" cy="5181601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3302000" y="609599"/>
            <a:ext cx="7748590" cy="5181601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991879" y="5883276"/>
            <a:ext cx="2743200" cy="365125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11280" y="5883275"/>
            <a:ext cx="6239309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144590" y="5883274"/>
            <a:ext cx="771089" cy="365125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 flipH="1">
            <a:off x="152400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1144589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144589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1991879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4811280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1144590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E1626C-D707-7F12-C599-0ACC2928BF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953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Aptos" panose="020F0502020204030204" pitchFamily="34" charset="0"/>
              </a:rPr>
              <a:t>OFFICIAL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A31814-5DBC-5F2E-2C3D-4A1E4F4B11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953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Aptos" panose="020F0502020204030204" pitchFamily="34" charset="0"/>
              </a:rPr>
              <a:t>OFFICIAL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AECF-1961-B61B-2101-1717C8EA60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Vibe-Coding</a:t>
            </a:r>
            <a:r>
              <a:rPr lang="he-IL" sz="6600" dirty="0"/>
              <a:t> למהנדסים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56AF0-26FD-DAF6-6EDA-989AC8BBF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יאיר אדלר</a:t>
            </a:r>
          </a:p>
        </p:txBody>
      </p:sp>
    </p:spTree>
    <p:extLst>
      <p:ext uri="{BB962C8B-B14F-4D97-AF65-F5344CB8AC3E}">
        <p14:creationId xmlns:p14="http://schemas.microsoft.com/office/powerpoint/2010/main" val="77214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9255AE3-34FA-8C58-8A26-615ED7FFE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6828"/>
            <a:ext cx="4615394" cy="587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7C4A876-6F81-FA8E-60FD-4DF938D63C59}"/>
              </a:ext>
            </a:extLst>
          </p:cNvPr>
          <p:cNvSpPr txBox="1">
            <a:spLocks/>
          </p:cNvSpPr>
          <p:nvPr/>
        </p:nvSpPr>
        <p:spPr>
          <a:xfrm flipH="1">
            <a:off x="4297047" y="200055"/>
            <a:ext cx="6875259" cy="133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800" dirty="0">
                <a:latin typeface="Arial Black" panose="020B0A04020102020204" pitchFamily="34" charset="0"/>
              </a:rPr>
              <a:t>מה זה </a:t>
            </a:r>
            <a:r>
              <a:rPr lang="en-US" sz="4800" dirty="0">
                <a:latin typeface="Arial Black" panose="020B0A04020102020204" pitchFamily="34" charset="0"/>
              </a:rPr>
              <a:t>Vibe-Coding</a:t>
            </a:r>
            <a:r>
              <a:rPr lang="he-IL" sz="4800" dirty="0"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E4C7B-29FA-0979-D50D-06A7C4C7D41C}"/>
              </a:ext>
            </a:extLst>
          </p:cNvPr>
          <p:cNvSpPr txBox="1"/>
          <p:nvPr/>
        </p:nvSpPr>
        <p:spPr>
          <a:xfrm>
            <a:off x="5133315" y="1123378"/>
            <a:ext cx="58847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/>
              <a:t>יצירת קוד בעזרת </a:t>
            </a:r>
            <a:r>
              <a:rPr lang="en-US" sz="2000" dirty="0"/>
              <a:t>AI</a:t>
            </a:r>
            <a:r>
              <a:rPr lang="he-IL" sz="2000" dirty="0"/>
              <a:t>, על ידי הגדרת דרישות בשפה טבעית.</a:t>
            </a:r>
          </a:p>
          <a:p>
            <a:pPr algn="r" rtl="1"/>
            <a:r>
              <a:rPr lang="he-IL" sz="2000" dirty="0"/>
              <a:t>לא נדרש ידע בתוכנה, ולא הבנה בשפות-קוד.</a:t>
            </a:r>
          </a:p>
          <a:p>
            <a:pPr algn="r" rtl="1"/>
            <a:r>
              <a:rPr lang="he-IL" sz="2000" dirty="0"/>
              <a:t>הכתיבה, וה-</a:t>
            </a:r>
            <a:r>
              <a:rPr lang="en-US" sz="2000" dirty="0"/>
              <a:t>Debugging</a:t>
            </a:r>
            <a:r>
              <a:rPr lang="he-IL" sz="2000" dirty="0"/>
              <a:t> מבוצעים על-ידי </a:t>
            </a:r>
            <a:r>
              <a:rPr lang="en-US" sz="2000" dirty="0"/>
              <a:t>AI</a:t>
            </a:r>
            <a:r>
              <a:rPr lang="he-IL" sz="2000" dirty="0"/>
              <a:t>, המשתמש מתפקד כמנחה.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8ADBAF-4C4A-317D-EB8F-7DF57DDA80A0}"/>
              </a:ext>
            </a:extLst>
          </p:cNvPr>
          <p:cNvSpPr txBox="1">
            <a:spLocks/>
          </p:cNvSpPr>
          <p:nvPr/>
        </p:nvSpPr>
        <p:spPr>
          <a:xfrm flipH="1">
            <a:off x="3699518" y="2097874"/>
            <a:ext cx="7400030" cy="133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800" dirty="0">
                <a:latin typeface="Arial Black" panose="020B0A04020102020204" pitchFamily="34" charset="0"/>
              </a:rPr>
              <a:t>למה זה טוב?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EA99C-40DA-D2CD-0017-5DE3F29805B9}"/>
              </a:ext>
            </a:extLst>
          </p:cNvPr>
          <p:cNvSpPr txBox="1"/>
          <p:nvPr/>
        </p:nvSpPr>
        <p:spPr>
          <a:xfrm>
            <a:off x="5133315" y="3050031"/>
            <a:ext cx="5884752" cy="40934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/>
              <a:t>לא מדובר בכלי עם ייעוד ספציפי (</a:t>
            </a:r>
            <a:r>
              <a:rPr lang="en-US" sz="2000" dirty="0"/>
              <a:t>ANSYS</a:t>
            </a:r>
            <a:r>
              <a:rPr lang="he-IL" sz="2000" dirty="0"/>
              <a:t>, </a:t>
            </a:r>
            <a:r>
              <a:rPr lang="en-US" sz="2000" dirty="0"/>
              <a:t>LABVIEW</a:t>
            </a:r>
            <a:r>
              <a:rPr lang="he-IL" sz="2000" dirty="0"/>
              <a:t>, תוכנות חשובות נוספות עליהן קיבלו פרס ייעול)</a:t>
            </a:r>
          </a:p>
          <a:p>
            <a:pPr algn="r" rtl="1"/>
            <a:r>
              <a:rPr lang="he-IL" sz="2000" dirty="0"/>
              <a:t>זו יכולת גנרית לחלוטין – מתאימה לעזרה במגוון רחב של בעיות הנדסיות. למשל: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סימולציות חוזק – תכן אמין יותר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 err="1"/>
              <a:t>אופטימיזציות</a:t>
            </a:r>
            <a:r>
              <a:rPr lang="he-IL" sz="2000" dirty="0"/>
              <a:t> – תכן טוב יותר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ניתוח והצגה של תוצאות – דוחות טובים יותר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קריאת נתונים ו-</a:t>
            </a:r>
            <a:r>
              <a:rPr lang="en-US" sz="2000" dirty="0"/>
              <a:t>GUI</a:t>
            </a:r>
            <a:r>
              <a:rPr lang="he-IL" sz="2000" dirty="0"/>
              <a:t> – לא צריך יאיר יותר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תכנון מסלול לרובוט – משהו משהו יותר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ועוד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ועוד </a:t>
            </a:r>
          </a:p>
          <a:p>
            <a:pPr algn="r" rtl="1"/>
            <a:r>
              <a:rPr lang="he-IL" sz="2000" dirty="0"/>
              <a:t>היום נפתור בעזרת </a:t>
            </a:r>
            <a:r>
              <a:rPr lang="en-US" sz="2000" dirty="0"/>
              <a:t>VIBE-CODING</a:t>
            </a:r>
            <a:r>
              <a:rPr lang="he-IL" sz="2000" dirty="0"/>
              <a:t> בעיות מסוגים שונים</a:t>
            </a:r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3593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5541-1178-2762-DA0B-B7407C0B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DA92C9-2D79-C712-B190-860D5010424A}"/>
              </a:ext>
            </a:extLst>
          </p:cNvPr>
          <p:cNvSpPr txBox="1">
            <a:spLocks/>
          </p:cNvSpPr>
          <p:nvPr/>
        </p:nvSpPr>
        <p:spPr>
          <a:xfrm flipH="1">
            <a:off x="3349781" y="200055"/>
            <a:ext cx="7822523" cy="133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800" dirty="0">
                <a:latin typeface="Arial Black" panose="020B0A04020102020204" pitchFamily="34" charset="0"/>
              </a:rPr>
              <a:t>תוכנית הקורס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64C9D-8F57-48ED-FBD4-5D7FA1C1EE2D}"/>
              </a:ext>
            </a:extLst>
          </p:cNvPr>
          <p:cNvSpPr txBox="1"/>
          <p:nvPr/>
        </p:nvSpPr>
        <p:spPr>
          <a:xfrm>
            <a:off x="1173934" y="1123378"/>
            <a:ext cx="9844134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התקנות – השלב הכי חשוב והכי קשה!</a:t>
            </a:r>
          </a:p>
          <a:p>
            <a:pPr lvl="1" algn="r" rtl="1"/>
            <a:r>
              <a:rPr lang="he-IL" sz="2000" dirty="0"/>
              <a:t>נתקין את כל התוכנות והתוספות הנחוצות.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GITHUB</a:t>
            </a:r>
            <a:r>
              <a:rPr lang="he-IL" sz="2000" dirty="0"/>
              <a:t> – ה-</a:t>
            </a:r>
            <a:r>
              <a:rPr lang="en-US" sz="2000" dirty="0"/>
              <a:t>PLM</a:t>
            </a:r>
            <a:r>
              <a:rPr lang="he-IL" sz="2000" dirty="0"/>
              <a:t> של התוכנה (בלי הבאגים)</a:t>
            </a:r>
          </a:p>
          <a:p>
            <a:pPr lvl="1" algn="r" rtl="1"/>
            <a:r>
              <a:rPr lang="he-IL" sz="2000" dirty="0"/>
              <a:t>מערכת לשיתוף ידע (בעיקר קוד). נלמד למשוך ולהעלות קוד.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000" dirty="0"/>
              <a:t>PYTHON</a:t>
            </a:r>
            <a:r>
              <a:rPr lang="he-IL" sz="2000" dirty="0"/>
              <a:t> – שפת תכנות נפוצה עם הרבה ספריות מוצלחות</a:t>
            </a:r>
          </a:p>
          <a:p>
            <a:pPr algn="r" rtl="1"/>
            <a:r>
              <a:rPr lang="he-IL" sz="2000" dirty="0"/>
              <a:t>	נעבור קצת על איך נראה קוד, הבדלים מ-</a:t>
            </a:r>
            <a:r>
              <a:rPr lang="en-US" sz="2000" dirty="0"/>
              <a:t>MATLAB</a:t>
            </a:r>
            <a:r>
              <a:rPr lang="he-IL" sz="2000" dirty="0"/>
              <a:t> ו-</a:t>
            </a:r>
            <a:r>
              <a:rPr lang="en-US" sz="2000" dirty="0"/>
              <a:t>C</a:t>
            </a:r>
            <a:r>
              <a:rPr lang="he-IL" sz="2000" dirty="0"/>
              <a:t> שפגשתם בתואר, ספריות מרכזיות </a:t>
            </a:r>
            <a:r>
              <a:rPr lang="he-IL" sz="2000" dirty="0" err="1"/>
              <a:t>וכו</a:t>
            </a:r>
            <a:r>
              <a:rPr lang="he-IL" sz="2000" dirty="0"/>
              <a:t>'.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פתרון בעיות – לב הקורס</a:t>
            </a:r>
          </a:p>
          <a:p>
            <a:pPr lvl="1" algn="r" rtl="1"/>
            <a:r>
              <a:rPr lang="he-IL" sz="2000" dirty="0"/>
              <a:t>נשתמש ב-</a:t>
            </a:r>
            <a:r>
              <a:rPr lang="en-US" sz="2000" dirty="0"/>
              <a:t>Vibe-Coding</a:t>
            </a:r>
            <a:r>
              <a:rPr lang="he-IL" sz="2000" dirty="0"/>
              <a:t> לפתרון בעיות: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 err="1"/>
              <a:t>סימולצית</a:t>
            </a:r>
            <a:r>
              <a:rPr lang="he-IL" sz="2000" dirty="0"/>
              <a:t> חוזק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אופטימיזציה טופולוגית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תכן זרוע רובוטית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 err="1"/>
              <a:t>אופטימיזצית</a:t>
            </a:r>
            <a:r>
              <a:rPr lang="he-IL" sz="2000" dirty="0"/>
              <a:t> מסלול תנועה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תקשורת </a:t>
            </a:r>
            <a:r>
              <a:rPr lang="en-US" sz="2000" dirty="0"/>
              <a:t>Client\Server</a:t>
            </a:r>
            <a:endParaRPr lang="he-IL" sz="2000" dirty="0"/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אלגוריתמי ניווט בזמן-אמת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כיבוש הגלקסיה</a:t>
            </a:r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46048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526D-B6E2-5E7A-A99B-384DF06C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3CB974-692D-2CE7-D4DF-999DF4C47FDC}"/>
              </a:ext>
            </a:extLst>
          </p:cNvPr>
          <p:cNvSpPr txBox="1">
            <a:spLocks/>
          </p:cNvSpPr>
          <p:nvPr/>
        </p:nvSpPr>
        <p:spPr>
          <a:xfrm flipH="1">
            <a:off x="3349781" y="200055"/>
            <a:ext cx="7822523" cy="133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800" dirty="0">
                <a:latin typeface="Arial Black" panose="020B0A04020102020204" pitchFamily="34" charset="0"/>
              </a:rPr>
              <a:t>כללים לשימוש ב-</a:t>
            </a:r>
            <a:r>
              <a:rPr lang="en-US" sz="4800" dirty="0">
                <a:latin typeface="Arial Black" panose="020B0A04020102020204" pitchFamily="34" charset="0"/>
              </a:rPr>
              <a:t>AI</a:t>
            </a:r>
            <a:r>
              <a:rPr lang="he-IL" sz="4800" dirty="0">
                <a:latin typeface="Arial Black" panose="020B0A04020102020204" pitchFamily="34" charset="0"/>
              </a:rPr>
              <a:t> במהלך הקורס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20619-5A0E-5806-CC48-77C955FA9CEA}"/>
              </a:ext>
            </a:extLst>
          </p:cNvPr>
          <p:cNvSpPr txBox="1"/>
          <p:nvPr/>
        </p:nvSpPr>
        <p:spPr>
          <a:xfrm>
            <a:off x="1173934" y="1123378"/>
            <a:ext cx="984413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/>
              <a:t>תשתמשו</a:t>
            </a:r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94846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33A5-89C1-C7DF-4F80-F4C69A3D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8D9D4D-7F77-961E-F597-200C604D9FAA}"/>
              </a:ext>
            </a:extLst>
          </p:cNvPr>
          <p:cNvSpPr txBox="1">
            <a:spLocks/>
          </p:cNvSpPr>
          <p:nvPr/>
        </p:nvSpPr>
        <p:spPr>
          <a:xfrm flipH="1">
            <a:off x="3349781" y="200055"/>
            <a:ext cx="7822523" cy="133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800" dirty="0">
                <a:latin typeface="Arial Black" panose="020B0A04020102020204" pitchFamily="34" charset="0"/>
              </a:rPr>
              <a:t>סיכום הקורס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518DB-4CF4-77C3-0966-0FAA9D459BCD}"/>
              </a:ext>
            </a:extLst>
          </p:cNvPr>
          <p:cNvSpPr txBox="1"/>
          <p:nvPr/>
        </p:nvSpPr>
        <p:spPr>
          <a:xfrm>
            <a:off x="1173933" y="1177238"/>
            <a:ext cx="9844134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000" dirty="0"/>
              <a:t>Vibe-Coding</a:t>
            </a:r>
            <a:r>
              <a:rPr lang="he-IL" sz="2000" dirty="0"/>
              <a:t> מאפשר שימוש בקוד לפתרון מגוון בעיות.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000" dirty="0"/>
              <a:t>אם השתמשתם – שתפו. אולי יעזור גם לאחרים.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000" dirty="0"/>
              <a:t>VS Code</a:t>
            </a:r>
            <a:r>
              <a:rPr lang="he-IL" sz="2000" dirty="0"/>
              <a:t> תומך בכל שפת תכנות. שווה להתייעץ </a:t>
            </a:r>
            <a:r>
              <a:rPr lang="he-IL" sz="2000" dirty="0" err="1"/>
              <a:t>איתו</a:t>
            </a:r>
            <a:r>
              <a:rPr lang="he-IL" sz="2000" dirty="0"/>
              <a:t> לגבי השפה המתאימה עבור כל יישום.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he-IL" sz="2000" dirty="0"/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747420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gt.TF04033919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04033919" id="{25D8D1E8-17FF-49B2-86BF-EFA2CBD7C6BF}" vid="{5E7EBC58-D020-494F-B23B-A8FDA85F03A5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{B0A899FD-FCEB-486F-BB3A-438BF8857C46}TF6d5feb1e-e145-43f1-b745-cb4b54c5ee97b8ad3558-9deb3bda6db4</Template>
  <TotalTime>66</TotalTime>
  <Words>265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Arial Black</vt:lpstr>
      <vt:lpstr>Tw Cen MT</vt:lpstr>
      <vt:lpstr>tgt.TF04033919</vt:lpstr>
      <vt:lpstr>Vibe-Coding למהנדסים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YAIR ADLER</dc:creator>
  <cp:lastModifiedBy>YAIR ADLER</cp:lastModifiedBy>
  <cp:revision>3</cp:revision>
  <dcterms:created xsi:type="dcterms:W3CDTF">2026-03-04T12:20:09Z</dcterms:created>
  <dcterms:modified xsi:type="dcterms:W3CDTF">2026-03-04T13:28:06Z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tgt.TF04033919:51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tgt.TF04033919:50</vt:lpwstr>
  </property>
  <property fmtid="{D5CDD505-2E9C-101B-9397-08002B2CF9AE}" pid="5" name="ClassificationContentMarkingHeaderText">
    <vt:lpwstr>OFFICIAL</vt:lpwstr>
  </property>
</Properties>
</file>